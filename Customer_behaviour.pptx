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Open by framing the core premise: retail data is only valuable when it resolves commercial uncertainty into specific operational decisions.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Establish the foundation: this 3,900-purchase dataset captures every major touchpoint from category interest to payment and shipping preference.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Point to the primary volume drivers: Clothing and Accessories account for 2,950 of the 3,900 unit sales. Accessories serve as the prime cross-sell partner.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Emphasize that while Young Adults lead, every cohort contributes at least $55K. The mandate is segmentation and relevant creative, not abandoning older shoppers.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Nearly half of sales in top categories carry promotions, yet 839 customers maintain above-average spend. Replace margin-draining sitewide sales with item-level triggers.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business enjoys strong organic loyalty with 3,116 repeat shoppers, but leaves recurring value on the table: only 27% are subscribed, leaving $170K non-member revenue untapped.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Pair high customer satisfaction with high-velocity SKU distribution: Gloves and Sandals lead in reviews; Jewelry, Blouse, Sandals, and Jacket drive category conversion.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$2.02 delta separates express from standard orders ($60.48 vs $58.46). Treat this as a correlation signal to test tier thresholds, not guaranteed causation.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three stages form a closed operational loop: targeted acquisition leads to friction-free conversion, which feeds recurring subscriber loyalty.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Conclude with execution: weekly KPI tracking across Python, SQL, and Power BI ensures that insights directly drive commercial experiments.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0981106" cy="10295039"/>
            <a:chOff x="0" y="0"/>
            <a:chExt cx="1464147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144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4641449">
                  <a:moveTo>
                    <a:pt x="0" y="0"/>
                  </a:moveTo>
                  <a:lnTo>
                    <a:pt x="14641449" y="0"/>
                  </a:lnTo>
                  <a:lnTo>
                    <a:pt x="1464144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91352" y="1143000"/>
            <a:ext cx="8998401" cy="499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b="true" sz="7806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Customer shopping data can turn retail uncertainty into action.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7610" y="7793495"/>
            <a:ext cx="8564404" cy="46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31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Transaction Evidence &amp; Decision Framework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499" y="8441202"/>
            <a:ext cx="9913496" cy="38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3,900 purchases analyzed across product, promo, and retention signals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61508" y="0"/>
            <a:ext cx="7320734" cy="10295039"/>
            <a:chOff x="0" y="0"/>
            <a:chExt cx="9760979" cy="1372671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76096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60966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046243" cy="10295039"/>
            <a:chOff x="0" y="0"/>
            <a:chExt cx="9394990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39495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394952">
                  <a:moveTo>
                    <a:pt x="0" y="0"/>
                  </a:moveTo>
                  <a:lnTo>
                    <a:pt x="9394952" y="0"/>
                  </a:lnTo>
                  <a:lnTo>
                    <a:pt x="9394952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t="0" r="-2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67726" y="962025"/>
            <a:ext cx="9654340" cy="33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3487" indent="-191743" lvl="1">
              <a:lnSpc>
                <a:spcPts val="2664"/>
              </a:lnSpc>
              <a:buFont typeface="Arial"/>
              <a:buChar char="•"/>
            </a:pPr>
            <a:r>
              <a:rPr lang="en-US" b="true" sz="1776" spc="106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DATASET BASELINE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47500" y="1584950"/>
            <a:ext cx="8739245" cy="199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3,900 purchases reveal a broad but measurable customer 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47500" y="4111609"/>
            <a:ext cx="873924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3,900 purchases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47500" y="4678842"/>
            <a:ext cx="8739245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Across 18 columns and four product categories.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47500" y="5784552"/>
            <a:ext cx="873924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Core question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7500" y="6351794"/>
            <a:ext cx="8739245" cy="46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Which factors drive engagement, conversion, and repeat purchasing?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47500" y="7457494"/>
            <a:ext cx="873924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Signals available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7500" y="8024736"/>
            <a:ext cx="8739245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Demographics, product, discount, review, shipping, payment, subscription, and purchase history.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647500" y="5441385"/>
            <a:ext cx="8739245" cy="19069"/>
            <a:chOff x="0" y="0"/>
            <a:chExt cx="11652326" cy="25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52377" cy="25400"/>
            </a:xfrm>
            <a:custGeom>
              <a:avLst/>
              <a:gdLst/>
              <a:ahLst/>
              <a:cxnLst/>
              <a:rect r="r" b="b" t="t" l="l"/>
              <a:pathLst>
                <a:path h="25400" w="11652377">
                  <a:moveTo>
                    <a:pt x="0" y="0"/>
                  </a:moveTo>
                  <a:lnTo>
                    <a:pt x="11652377" y="0"/>
                  </a:lnTo>
                  <a:lnTo>
                    <a:pt x="1165237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47500" y="7114337"/>
            <a:ext cx="8739245" cy="19069"/>
            <a:chOff x="0" y="0"/>
            <a:chExt cx="11652326" cy="25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52377" cy="25400"/>
            </a:xfrm>
            <a:custGeom>
              <a:avLst/>
              <a:gdLst/>
              <a:ahLst/>
              <a:cxnLst/>
              <a:rect r="r" b="b" t="t" l="l"/>
              <a:pathLst>
                <a:path h="25400" w="11652377">
                  <a:moveTo>
                    <a:pt x="0" y="0"/>
                  </a:moveTo>
                  <a:lnTo>
                    <a:pt x="11652377" y="0"/>
                  </a:lnTo>
                  <a:lnTo>
                    <a:pt x="1165237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PORTFOLIO MIX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02347"/>
            <a:ext cx="16471659" cy="13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Clothing leads the portfolio, with accessories close behind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3273352"/>
            <a:ext cx="9722853" cy="5719467"/>
            <a:chOff x="0" y="0"/>
            <a:chExt cx="12963804" cy="7625956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2963779" cy="7625969"/>
            </a:xfrm>
            <a:custGeom>
              <a:avLst/>
              <a:gdLst/>
              <a:ahLst/>
              <a:cxnLst/>
              <a:rect r="r" b="b" t="t" l="l"/>
              <a:pathLst>
                <a:path h="7625969" w="12963779">
                  <a:moveTo>
                    <a:pt x="0" y="0"/>
                  </a:moveTo>
                  <a:lnTo>
                    <a:pt x="12963779" y="0"/>
                  </a:lnTo>
                  <a:lnTo>
                    <a:pt x="12963779" y="7625969"/>
                  </a:lnTo>
                  <a:lnTo>
                    <a:pt x="0" y="7625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98612" y="3717808"/>
            <a:ext cx="5788133" cy="3137811"/>
            <a:chOff x="0" y="0"/>
            <a:chExt cx="7717511" cy="41837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17536" cy="4183761"/>
            </a:xfrm>
            <a:custGeom>
              <a:avLst/>
              <a:gdLst/>
              <a:ahLst/>
              <a:cxnLst/>
              <a:rect r="r" b="b" t="t" l="l"/>
              <a:pathLst>
                <a:path h="4183761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4183761"/>
                  </a:lnTo>
                  <a:lnTo>
                    <a:pt x="0" y="4183761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979897" y="4370689"/>
            <a:ext cx="5025561" cy="84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750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76%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79897" y="5353726"/>
            <a:ext cx="5025561" cy="105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of total revenue is concentrated in Clothing ($100K) and Accessories ($75K).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98612" y="7147465"/>
            <a:ext cx="5788133" cy="141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Strategic implication: protect the core clothing volume while deploying accessories as immediate basket-extenders at checkout.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DEMOGRAPHIC BREAKDOWN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02347"/>
            <a:ext cx="16471659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Young adults are the strongest revenue segment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3033103"/>
            <a:ext cx="9722853" cy="5528815"/>
            <a:chOff x="0" y="0"/>
            <a:chExt cx="12963804" cy="7371753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2963779" cy="7371715"/>
            </a:xfrm>
            <a:custGeom>
              <a:avLst/>
              <a:gdLst/>
              <a:ahLst/>
              <a:cxnLst/>
              <a:rect r="r" b="b" t="t" l="l"/>
              <a:pathLst>
                <a:path h="7371715" w="12963779">
                  <a:moveTo>
                    <a:pt x="0" y="0"/>
                  </a:moveTo>
                  <a:lnTo>
                    <a:pt x="12963779" y="0"/>
                  </a:lnTo>
                  <a:lnTo>
                    <a:pt x="12963779" y="7371715"/>
                  </a:lnTo>
                  <a:lnTo>
                    <a:pt x="0" y="7371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" r="0" b="-4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598612" y="3013434"/>
            <a:ext cx="5788133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Broad engagement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98612" y="3629396"/>
            <a:ext cx="5788133" cy="105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Revenue is distributed across all four age groups, spanning $55.7K to $62.1K.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98612" y="5159873"/>
            <a:ext cx="5788133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Young Adult lead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98612" y="5775836"/>
            <a:ext cx="5788133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Shoppers under 30 form the leading single cohort at $62,143 total spend.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98612" y="6949888"/>
            <a:ext cx="5788133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Action required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98612" y="7565850"/>
            <a:ext cx="5788133" cy="105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Tailor creative and bundle messaging by life stage instead of relying on a generic broad-market pitch.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598612" y="4892973"/>
            <a:ext cx="5788133" cy="19069"/>
            <a:chOff x="0" y="0"/>
            <a:chExt cx="7717511" cy="25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17536" cy="25400"/>
            </a:xfrm>
            <a:custGeom>
              <a:avLst/>
              <a:gdLst/>
              <a:ahLst/>
              <a:cxnLst/>
              <a:rect r="r" b="b" t="t" l="l"/>
              <a:pathLst>
                <a:path h="25400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98612" y="6682988"/>
            <a:ext cx="5788133" cy="19069"/>
            <a:chOff x="0" y="0"/>
            <a:chExt cx="7717511" cy="25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17536" cy="25400"/>
            </a:xfrm>
            <a:custGeom>
              <a:avLst/>
              <a:gdLst/>
              <a:ahLst/>
              <a:cxnLst/>
              <a:rect r="r" b="b" t="t" l="l"/>
              <a:pathLst>
                <a:path h="25400" w="7717536">
                  <a:moveTo>
                    <a:pt x="0" y="0"/>
                  </a:moveTo>
                  <a:lnTo>
                    <a:pt x="7717536" y="0"/>
                  </a:lnTo>
                  <a:lnTo>
                    <a:pt x="771753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PROMOTIONAL PRICING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02347"/>
            <a:ext cx="16471659" cy="13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Discounts can drive volume without eliminating higher-value orders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4227643"/>
            <a:ext cx="5787990" cy="2781386"/>
            <a:chOff x="0" y="0"/>
            <a:chExt cx="7717320" cy="37085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17282" cy="3708527"/>
            </a:xfrm>
            <a:custGeom>
              <a:avLst/>
              <a:gdLst/>
              <a:ahLst/>
              <a:cxnLst/>
              <a:rect r="r" b="b" t="t" l="l"/>
              <a:pathLst>
                <a:path h="3708527" w="7717282">
                  <a:moveTo>
                    <a:pt x="0" y="0"/>
                  </a:moveTo>
                  <a:lnTo>
                    <a:pt x="7717282" y="0"/>
                  </a:lnTo>
                  <a:lnTo>
                    <a:pt x="7717282" y="3708527"/>
                  </a:lnTo>
                  <a:lnTo>
                    <a:pt x="0" y="3708527"/>
                  </a:ln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96381" y="4880534"/>
            <a:ext cx="5025409" cy="84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7505" b="true">
                <a:solidFill>
                  <a:srgbClr val="FF9466"/>
                </a:solidFill>
                <a:latin typeface="Arimo Bold"/>
                <a:ea typeface="Arimo Bold"/>
                <a:cs typeface="Arimo Bold"/>
                <a:sym typeface="Arimo Bold"/>
              </a:rPr>
              <a:t>839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6381" y="5863561"/>
            <a:ext cx="5025409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customers still spent above the average purchase amount.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7209263"/>
            <a:ext cx="5787990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Move from blanket discounting to product- and segment-specific offers.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89247" y="4038695"/>
            <a:ext cx="9997497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Top Discount-Dependent Products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389248" y="4560829"/>
          <a:ext cx="9970940" cy="3660460"/>
        </p:xfrm>
        <a:graphic>
          <a:graphicData uri="http://schemas.openxmlformats.org/drawingml/2006/table">
            <a:tbl>
              <a:tblPr/>
              <a:tblGrid>
                <a:gridCol w="5480213"/>
                <a:gridCol w="4490727"/>
              </a:tblGrid>
              <a:tr h="611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61C2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Product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161C26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Discounted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1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Hat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50.00%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1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Sneakers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49.66%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1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Coat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49.07%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1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Sweater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48.17%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27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Pants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545D6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47.37%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3471"/>
            <a:ext cx="17386744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RETENTION &amp; MEMBERSHIP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02347"/>
            <a:ext cx="16471659" cy="13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Loyalty is large, but subscriptions are not yet converting 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3493494"/>
            <a:ext cx="7244477" cy="5341591"/>
            <a:chOff x="0" y="0"/>
            <a:chExt cx="9659302" cy="712212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9659366" cy="7122160"/>
            </a:xfrm>
            <a:custGeom>
              <a:avLst/>
              <a:gdLst/>
              <a:ahLst/>
              <a:cxnLst/>
              <a:rect r="r" b="b" t="t" l="l"/>
              <a:pathLst>
                <a:path h="7122160" w="9659366">
                  <a:moveTo>
                    <a:pt x="0" y="0"/>
                  </a:moveTo>
                  <a:lnTo>
                    <a:pt x="9659366" y="0"/>
                  </a:lnTo>
                  <a:lnTo>
                    <a:pt x="9659366" y="7122160"/>
                  </a:lnTo>
                  <a:lnTo>
                    <a:pt x="0" y="712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" r="0" b="-2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46194" y="3099578"/>
            <a:ext cx="6840550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A8380F"/>
                </a:solidFill>
                <a:latin typeface="Arimo"/>
                <a:ea typeface="Arimo"/>
                <a:cs typeface="Arimo"/>
                <a:sym typeface="Arimo"/>
              </a:rPr>
              <a:t>CUSTOMER 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6194" y="3620233"/>
            <a:ext cx="6840550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3,116 Loyal buyers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6194" y="4187476"/>
            <a:ext cx="6840550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Over 79% of all accounts show proven repeat purchasing behavior.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6194" y="5535120"/>
            <a:ext cx="6840550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A8380F"/>
                </a:solidFill>
                <a:latin typeface="Arimo"/>
                <a:ea typeface="Arimo"/>
                <a:cs typeface="Arimo"/>
                <a:sym typeface="Arimo"/>
              </a:rPr>
              <a:t>PROGRAM PENETRATION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46194" y="6055776"/>
            <a:ext cx="6840550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27% Subscribed vs 73% Non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46194" y="6623018"/>
            <a:ext cx="6840550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Subscription revenue sits at $62,645 against $170,436 from non-subscribers.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6194" y="7970663"/>
            <a:ext cx="6840550" cy="35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4"/>
              </a:lnSpc>
            </a:pPr>
            <a:r>
              <a:rPr lang="en-US" sz="1576" spc="94">
                <a:solidFill>
                  <a:srgbClr val="A8380F"/>
                </a:solidFill>
                <a:latin typeface="Arimo"/>
                <a:ea typeface="Arimo"/>
                <a:cs typeface="Arimo"/>
                <a:sym typeface="Arimo"/>
              </a:rPr>
              <a:t>COMMERCIAL GAP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46194" y="8487661"/>
            <a:ext cx="6840550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Convert habitual repeat activity into structured recurring membership value.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46194" y="5312254"/>
            <a:ext cx="6840550" cy="19069"/>
            <a:chOff x="0" y="0"/>
            <a:chExt cx="9120734" cy="25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20759" cy="25400"/>
            </a:xfrm>
            <a:custGeom>
              <a:avLst/>
              <a:gdLst/>
              <a:ahLst/>
              <a:cxnLst/>
              <a:rect r="r" b="b" t="t" l="l"/>
              <a:pathLst>
                <a:path h="25400" w="9120759">
                  <a:moveTo>
                    <a:pt x="0" y="0"/>
                  </a:moveTo>
                  <a:lnTo>
                    <a:pt x="9120759" y="0"/>
                  </a:lnTo>
                  <a:lnTo>
                    <a:pt x="912075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546194" y="7747797"/>
            <a:ext cx="6840550" cy="19069"/>
            <a:chOff x="0" y="0"/>
            <a:chExt cx="9120734" cy="254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20759" cy="25400"/>
            </a:xfrm>
            <a:custGeom>
              <a:avLst/>
              <a:gdLst/>
              <a:ahLst/>
              <a:cxnLst/>
              <a:rect r="r" b="b" t="t" l="l"/>
              <a:pathLst>
                <a:path h="25400" w="9120759">
                  <a:moveTo>
                    <a:pt x="0" y="0"/>
                  </a:moveTo>
                  <a:lnTo>
                    <a:pt x="9120759" y="0"/>
                  </a:lnTo>
                  <a:lnTo>
                    <a:pt x="912075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MERCHANDISE STRATEGY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02347"/>
            <a:ext cx="16471659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Product proof points can anchor campaigns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281971"/>
            <a:ext cx="7892672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Top-Rated Products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2849213"/>
            <a:ext cx="7892672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Deploy high satisfaction scores in acquisition ads to lower trust barriers.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5092" y="3907260"/>
          <a:ext cx="7873801" cy="3450746"/>
        </p:xfrm>
        <a:graphic>
          <a:graphicData uri="http://schemas.openxmlformats.org/drawingml/2006/table">
            <a:tbl>
              <a:tblPr/>
              <a:tblGrid>
                <a:gridCol w="5106551"/>
                <a:gridCol w="2767250"/>
              </a:tblGrid>
              <a:tr h="6103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Item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Avg Rating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D"/>
                    </a:solidFill>
                  </a:tcPr>
                </a:tc>
              </a:tr>
              <a:tr h="569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Gloves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3.86 / 5.0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Sandals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3.84 / 5.0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Boots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3.82 / 5.0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8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Hat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3.80 / 5.0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0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Skirt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3.78 / 5.0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9494082" y="2281971"/>
            <a:ext cx="7892672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Top Category Sellers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94082" y="2849213"/>
            <a:ext cx="7892672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Feature proven volume leaders across landing pages and hero displays.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494080" y="3907260"/>
          <a:ext cx="7854737" cy="2878799"/>
        </p:xfrm>
        <a:graphic>
          <a:graphicData uri="http://schemas.openxmlformats.org/drawingml/2006/table">
            <a:tbl>
              <a:tblPr/>
              <a:tblGrid>
                <a:gridCol w="3927368"/>
                <a:gridCol w="3927368"/>
              </a:tblGrid>
              <a:tr h="6099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Category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521"/>
                        </a:lnSpc>
                        <a:defRPr/>
                      </a:pPr>
                      <a:r>
                        <a:rPr lang="en-US" sz="2101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Best Seller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328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D"/>
                    </a:solidFill>
                  </a:tcPr>
                </a:tc>
              </a:tr>
              <a:tr h="5694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Accessories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Jewelry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FF9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9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466"/>
                    </a:solidFill>
                  </a:tcPr>
                </a:tc>
              </a:tr>
              <a:tr h="5694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Clothing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Blouse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4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Footwear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Sandals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6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Outerwear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062"/>
                        </a:lnSpc>
                        <a:defRPr/>
                      </a:pPr>
                      <a:r>
                        <a:rPr lang="en-US" sz="2551" b="true">
                          <a:solidFill>
                            <a:srgbClr val="161C2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Jacket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C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A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9494082" y="7091610"/>
            <a:ext cx="7892672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Campaign positioning: attract with rating proof; convert with proven category volume.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1544298"/>
            <a:ext cx="17386744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FULFILLMENT ECONOMICS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2085108"/>
            <a:ext cx="16471659" cy="13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Shipping preference creates a small but useful value signal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3683394"/>
            <a:ext cx="16471659" cy="2981716"/>
            <a:chOff x="0" y="0"/>
            <a:chExt cx="21962212" cy="3975621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1962238" cy="3975608"/>
            </a:xfrm>
            <a:custGeom>
              <a:avLst/>
              <a:gdLst/>
              <a:ahLst/>
              <a:cxnLst/>
              <a:rect r="r" b="b" t="t" l="l"/>
              <a:pathLst>
                <a:path h="3975608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3975608"/>
                  </a:lnTo>
                  <a:lnTo>
                    <a:pt x="0" y="3975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1" r="0" b="-11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7036879"/>
            <a:ext cx="8007058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Behavioral interpretation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7652833"/>
            <a:ext cx="8007058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Shoppers prioritizing speed order slightly higher baskets ($2.02 higher on average).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9696" y="7036879"/>
            <a:ext cx="8007058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Operational test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9696" y="7652833"/>
            <a:ext cx="8007058" cy="105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Test express-shipping threshold bundles and priority checkout without assuming direct causation.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61536"/>
            <a:ext cx="17386744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ACTION BLUEPRINT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402347"/>
            <a:ext cx="16471659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Build the decision system around three connected moves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5095" y="2291515"/>
            <a:ext cx="5185524" cy="7088419"/>
            <a:chOff x="0" y="0"/>
            <a:chExt cx="6914032" cy="94512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14007" cy="9451213"/>
            </a:xfrm>
            <a:custGeom>
              <a:avLst/>
              <a:gdLst/>
              <a:ahLst/>
              <a:cxnLst/>
              <a:rect r="r" b="b" t="t" l="l"/>
              <a:pathLst>
                <a:path h="9451213" w="6914007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6547993" y="0"/>
                  </a:lnTo>
                  <a:cubicBezTo>
                    <a:pt x="6750177" y="0"/>
                    <a:pt x="6914007" y="163830"/>
                    <a:pt x="6914007" y="366014"/>
                  </a:cubicBezTo>
                  <a:lnTo>
                    <a:pt x="6914007" y="9085199"/>
                  </a:lnTo>
                  <a:cubicBezTo>
                    <a:pt x="6914007" y="9287383"/>
                    <a:pt x="6750177" y="9451213"/>
                    <a:pt x="6547993" y="9451213"/>
                  </a:cubicBezTo>
                  <a:lnTo>
                    <a:pt x="366014" y="9451213"/>
                  </a:lnTo>
                  <a:cubicBezTo>
                    <a:pt x="163830" y="9451213"/>
                    <a:pt x="0" y="9287383"/>
                    <a:pt x="0" y="9085199"/>
                  </a:cubicBez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58252" y="2749039"/>
            <a:ext cx="1206122" cy="2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58252" y="3084643"/>
            <a:ext cx="4499200" cy="28594"/>
            <a:chOff x="0" y="0"/>
            <a:chExt cx="5998934" cy="381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98972" cy="38100"/>
            </a:xfrm>
            <a:custGeom>
              <a:avLst/>
              <a:gdLst/>
              <a:ahLst/>
              <a:cxnLst/>
              <a:rect r="r" b="b" t="t" l="l"/>
              <a:pathLst>
                <a:path h="38100" w="5998972">
                  <a:moveTo>
                    <a:pt x="0" y="0"/>
                  </a:moveTo>
                  <a:lnTo>
                    <a:pt x="5998972" y="0"/>
                  </a:lnTo>
                  <a:lnTo>
                    <a:pt x="59989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58252" y="3298288"/>
            <a:ext cx="4499200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8252" y="3878704"/>
            <a:ext cx="4499200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Acquire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8252" y="4624930"/>
            <a:ext cx="4499200" cy="166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Target age groups and product interests using category-specific creative rather than generic broadcast marketing.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58163" y="2291515"/>
            <a:ext cx="5185524" cy="7088419"/>
            <a:chOff x="0" y="0"/>
            <a:chExt cx="6914032" cy="94512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14007" cy="9451213"/>
            </a:xfrm>
            <a:custGeom>
              <a:avLst/>
              <a:gdLst/>
              <a:ahLst/>
              <a:cxnLst/>
              <a:rect r="r" b="b" t="t" l="l"/>
              <a:pathLst>
                <a:path h="9451213" w="6914007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6547993" y="0"/>
                  </a:lnTo>
                  <a:cubicBezTo>
                    <a:pt x="6750177" y="0"/>
                    <a:pt x="6914007" y="163830"/>
                    <a:pt x="6914007" y="366014"/>
                  </a:cubicBezTo>
                  <a:lnTo>
                    <a:pt x="6914007" y="9085199"/>
                  </a:lnTo>
                  <a:cubicBezTo>
                    <a:pt x="6914007" y="9287383"/>
                    <a:pt x="6750177" y="9451213"/>
                    <a:pt x="6547993" y="9451213"/>
                  </a:cubicBezTo>
                  <a:lnTo>
                    <a:pt x="366014" y="9451213"/>
                  </a:lnTo>
                  <a:cubicBezTo>
                    <a:pt x="163830" y="9451213"/>
                    <a:pt x="0" y="9287383"/>
                    <a:pt x="0" y="9085199"/>
                  </a:cubicBezTo>
                  <a:close/>
                </a:path>
              </a:pathLst>
            </a:custGeom>
            <a:solidFill>
              <a:srgbClr val="1F5F8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901320" y="2749039"/>
            <a:ext cx="1264806" cy="2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01320" y="3084643"/>
            <a:ext cx="4499200" cy="28594"/>
            <a:chOff x="0" y="0"/>
            <a:chExt cx="5998934" cy="38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98972" cy="38100"/>
            </a:xfrm>
            <a:custGeom>
              <a:avLst/>
              <a:gdLst/>
              <a:ahLst/>
              <a:cxnLst/>
              <a:rect r="r" b="b" t="t" l="l"/>
              <a:pathLst>
                <a:path h="38100" w="5998972">
                  <a:moveTo>
                    <a:pt x="0" y="0"/>
                  </a:moveTo>
                  <a:lnTo>
                    <a:pt x="5998972" y="0"/>
                  </a:lnTo>
                  <a:lnTo>
                    <a:pt x="59989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01320" y="3298288"/>
            <a:ext cx="4499200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01320" y="3878704"/>
            <a:ext cx="4499200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Convert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1320" y="4624930"/>
            <a:ext cx="4499200" cy="166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 top-rated proof items, selective item discounts, and expedited delivery options to reduce friction.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01230" y="2291515"/>
            <a:ext cx="5185524" cy="7088419"/>
            <a:chOff x="0" y="0"/>
            <a:chExt cx="6914032" cy="94512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14007" cy="9451213"/>
            </a:xfrm>
            <a:custGeom>
              <a:avLst/>
              <a:gdLst/>
              <a:ahLst/>
              <a:cxnLst/>
              <a:rect r="r" b="b" t="t" l="l"/>
              <a:pathLst>
                <a:path h="9451213" w="6914007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6547993" y="0"/>
                  </a:lnTo>
                  <a:cubicBezTo>
                    <a:pt x="6750177" y="0"/>
                    <a:pt x="6914007" y="163830"/>
                    <a:pt x="6914007" y="366014"/>
                  </a:cubicBezTo>
                  <a:lnTo>
                    <a:pt x="6914007" y="9085199"/>
                  </a:lnTo>
                  <a:cubicBezTo>
                    <a:pt x="6914007" y="9287383"/>
                    <a:pt x="6750177" y="9451213"/>
                    <a:pt x="6547993" y="9451213"/>
                  </a:cubicBezTo>
                  <a:lnTo>
                    <a:pt x="366014" y="9451213"/>
                  </a:lnTo>
                  <a:cubicBezTo>
                    <a:pt x="163830" y="9451213"/>
                    <a:pt x="0" y="9287383"/>
                    <a:pt x="0" y="9085199"/>
                  </a:cubicBezTo>
                  <a:close/>
                </a:path>
              </a:pathLst>
            </a:custGeom>
            <a:solidFill>
              <a:srgbClr val="13283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44387" y="2749039"/>
            <a:ext cx="1265844" cy="22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544387" y="3084643"/>
            <a:ext cx="4499200" cy="28594"/>
            <a:chOff x="0" y="0"/>
            <a:chExt cx="5998934" cy="381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98972" cy="38100"/>
            </a:xfrm>
            <a:custGeom>
              <a:avLst/>
              <a:gdLst/>
              <a:ahLst/>
              <a:cxnLst/>
              <a:rect r="r" b="b" t="t" l="l"/>
              <a:pathLst>
                <a:path h="38100" w="5998972">
                  <a:moveTo>
                    <a:pt x="0" y="0"/>
                  </a:moveTo>
                  <a:lnTo>
                    <a:pt x="5998972" y="0"/>
                  </a:lnTo>
                  <a:lnTo>
                    <a:pt x="59989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946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44387" y="3298288"/>
            <a:ext cx="4499200" cy="34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5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44387" y="3878704"/>
            <a:ext cx="4499200" cy="65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Retain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44387" y="4624930"/>
            <a:ext cx="4499200" cy="126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Reward the 3,116 repeat buyers and convert high loyalty into concrete, recurring subscription benefits.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1208132"/>
            <a:ext cx="9654340" cy="29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0308" indent="-170154" lvl="1">
              <a:lnSpc>
                <a:spcPts val="2364"/>
              </a:lnSpc>
              <a:buFont typeface="Arial"/>
              <a:buChar char="•"/>
            </a:pPr>
            <a:r>
              <a:rPr lang="en-US" b="true" sz="1576" spc="94">
                <a:solidFill>
                  <a:srgbClr val="A8380F"/>
                </a:solidFill>
                <a:latin typeface="Arimo Bold"/>
                <a:ea typeface="Arimo Bold"/>
                <a:cs typeface="Arimo Bold"/>
                <a:sym typeface="Arimo Bold"/>
              </a:rPr>
              <a:t>OPERATIONAL CADENCE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1748942"/>
            <a:ext cx="8739245" cy="132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3"/>
              </a:lnSpc>
            </a:pPr>
            <a:r>
              <a:rPr lang="en-US" sz="4803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Make the dashboard a recurring operating rhythm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3299555"/>
            <a:ext cx="873924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Track weekly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3866798"/>
            <a:ext cx="8739245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Category revenue, discount rate, review rating, repeat purchase, and subscription conversion.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95" y="5449129"/>
            <a:ext cx="873924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Use the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6016371"/>
            <a:ext cx="8739245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Python for cleaning and feature engineering, SQL for transaction analysis, Power BI for stakeholder visibility.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7598693"/>
            <a:ext cx="8739245" cy="40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3002" b="true">
                <a:solidFill>
                  <a:srgbClr val="161C26"/>
                </a:solidFill>
                <a:latin typeface="Arimo Bold"/>
                <a:ea typeface="Arimo Bold"/>
                <a:cs typeface="Arimo Bold"/>
                <a:sym typeface="Arimo Bold"/>
              </a:rPr>
              <a:t>Next test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8165935"/>
            <a:ext cx="8739245" cy="86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545D6B"/>
                </a:solidFill>
                <a:latin typeface="Arimo"/>
                <a:ea typeface="Arimo"/>
                <a:cs typeface="Arimo"/>
                <a:sym typeface="Arimo"/>
              </a:rPr>
              <a:t>Compare targeted discount and subscription offers by segment and product.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04579" y="0"/>
            <a:ext cx="7046243" cy="10295039"/>
            <a:chOff x="0" y="0"/>
            <a:chExt cx="9394990" cy="1372671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39495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394952">
                  <a:moveTo>
                    <a:pt x="0" y="0"/>
                  </a:moveTo>
                  <a:lnTo>
                    <a:pt x="9394952" y="0"/>
                  </a:lnTo>
                  <a:lnTo>
                    <a:pt x="9394952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t="0" r="-2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5095" y="5067833"/>
            <a:ext cx="8739245" cy="19069"/>
            <a:chOff x="0" y="0"/>
            <a:chExt cx="11652326" cy="254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52377" cy="25400"/>
            </a:xfrm>
            <a:custGeom>
              <a:avLst/>
              <a:gdLst/>
              <a:ahLst/>
              <a:cxnLst/>
              <a:rect r="r" b="b" t="t" l="l"/>
              <a:pathLst>
                <a:path h="25400" w="11652377">
                  <a:moveTo>
                    <a:pt x="0" y="0"/>
                  </a:moveTo>
                  <a:lnTo>
                    <a:pt x="11652377" y="0"/>
                  </a:lnTo>
                  <a:lnTo>
                    <a:pt x="1165237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5095" y="7217407"/>
            <a:ext cx="8739245" cy="19069"/>
            <a:chOff x="0" y="0"/>
            <a:chExt cx="11652326" cy="254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52377" cy="25400"/>
            </a:xfrm>
            <a:custGeom>
              <a:avLst/>
              <a:gdLst/>
              <a:ahLst/>
              <a:cxnLst/>
              <a:rect r="r" b="b" t="t" l="l"/>
              <a:pathLst>
                <a:path h="25400" w="11652377">
                  <a:moveTo>
                    <a:pt x="0" y="0"/>
                  </a:moveTo>
                  <a:lnTo>
                    <a:pt x="11652377" y="0"/>
                  </a:lnTo>
                  <a:lnTo>
                    <a:pt x="1165237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6364" y="-2224898"/>
            <a:ext cx="19131269" cy="14736796"/>
          </a:xfrm>
          <a:custGeom>
            <a:avLst/>
            <a:gdLst/>
            <a:ahLst/>
            <a:cxnLst/>
            <a:rect r="r" b="b" t="t" l="l"/>
            <a:pathLst>
              <a:path h="14736796" w="19131269">
                <a:moveTo>
                  <a:pt x="0" y="0"/>
                </a:moveTo>
                <a:lnTo>
                  <a:pt x="19131268" y="0"/>
                </a:lnTo>
                <a:lnTo>
                  <a:pt x="19131268" y="14736796"/>
                </a:lnTo>
                <a:lnTo>
                  <a:pt x="0" y="14736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909" r="0" b="-1490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DAHX7iRNseg</dc:identifier>
  <dcterms:modified xsi:type="dcterms:W3CDTF">2011-08-01T06:04:30Z</dcterms:modified>
  <cp:revision>1</cp:revision>
  <dc:title>Customer-shopping-data-can-turn-retail-uncertainty-into-action.pptx</dc:title>
</cp:coreProperties>
</file>